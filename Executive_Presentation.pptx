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F59E0B"/>
                </a:solidFill>
              </a:defRPr>
            </a:pPr>
            <a:r>
              <a:t>FUTURE INTERNS DATA SCIENCE PROGRAM • TASK 1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Executive Sales Performance &amp; Growth Intelligence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Data-Driven Business Insights, Seasonality Analysis, Pareto Optimization &amp; Strategic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TASK 1 DELIVERABLE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Overview &amp; Core Business KPIs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0116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200" b="1">
                <a:solidFill>
                  <a:srgbClr val="2563EB"/>
                </a:solidFill>
              </a:defRPr>
            </a:pPr>
            <a:r>
              <a:t>$10.67M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Total Gross Revenue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Cleaned &amp; Validated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2" y="1463040"/>
            <a:ext cx="20116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200" b="1">
                <a:solidFill>
                  <a:srgbClr val="6366F1"/>
                </a:solidFill>
              </a:defRPr>
            </a:pPr>
            <a:r>
              <a:t>19,960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Completed Invoices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530k Line Items Analyzed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463040"/>
            <a:ext cx="20116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$534.40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Average Order Value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Wholesale &amp; Retail Mix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463040"/>
            <a:ext cx="20116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200" b="1">
                <a:solidFill>
                  <a:srgbClr val="A855F7"/>
                </a:solidFill>
              </a:defRPr>
            </a:pPr>
            <a:r>
              <a:t>4,338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Active Customers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65.4% Repeat Purchase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463040"/>
            <a:ext cx="2011680" cy="1554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38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Global Markets</a:t>
            </a:r>
          </a:p>
          <a:p>
            <a:pPr algn="ctr">
              <a:defRPr sz="850">
                <a:solidFill>
                  <a:srgbClr val="475569"/>
                </a:solidFill>
              </a:defRPr>
            </a:pPr>
            <a:r>
              <a:t>84.6% UK / 15.4% International</a:t>
            </a:r>
          </a:p>
        </p:txBody>
      </p:sp>
      <p:pic>
        <p:nvPicPr>
          <p:cNvPr id="8" name="Picture 7" descr="08_executive_dashboard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1072865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TEMPORAL TREND ANALYSIS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Question 1: How Do Sales Change Over Time?</a:t>
            </a:r>
          </a:p>
        </p:txBody>
      </p:sp>
      <p:pic>
        <p:nvPicPr>
          <p:cNvPr id="3" name="Picture 2" descr="01_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6304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Key Temporal Takeaways: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Q4 Holiday Surge: Revenue explodes in September ($1.10M) and peaks in November ($1.51M, +98.2% vs Feb).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Seasonal Revenue Share: Q4 accounts for 34.8% of the company's total annual gross revenue.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Peak Shopping Hours: Orders peak between 11:00 AM and 3:00 PM, with highest concentration on Thursdays.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Strategic Implication: Inventory purchases and warehouse staffing must be finalized by late August to capture holiday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CATALOG &amp; PARETO ANALYSIS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Question 2: Which Products Generate the Most Revenue?</a:t>
            </a:r>
          </a:p>
        </p:txBody>
      </p:sp>
      <p:pic>
        <p:nvPicPr>
          <p:cNvPr id="3" name="Picture 2" descr="02_top_10_product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212080" cy="4846320"/>
          </a:xfrm>
          <a:prstGeom prst="rect">
            <a:avLst/>
          </a:prstGeom>
        </p:spPr>
      </p:pic>
      <p:pic>
        <p:nvPicPr>
          <p:cNvPr id="4" name="Picture 3" descr="05_pareto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2120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GEOGRAPHIC REVENUE INTELLIGENCE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Question 3: Which Regions Are Most Profitable?</a:t>
            </a:r>
          </a:p>
        </p:txBody>
      </p:sp>
      <p:pic>
        <p:nvPicPr>
          <p:cNvPr id="3" name="Picture 2" descr="03_revenue_by_cou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6304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Geographic Insights: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Domestic Dominance: United Kingdom generates $9.03M (84.6% of total revenue).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High-Value International Buyers: Netherlands ($285k), EIRE ($283k), Germany ($228k), and France ($209k).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Wholesale Basket Size: International orders average $2,000 - $3,000+ per invoice (3x to 6x domestic UK AOV).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Strategic Action: Deploy localized European B2B wholesale portals and regional 3PL fulfillment hubs.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BEHAVIORAL CUSTOMER CLUSTERING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Customer RFM Segmentation &amp; Retention Opportunity</a:t>
            </a:r>
          </a:p>
        </p:txBody>
      </p:sp>
      <p:pic>
        <p:nvPicPr>
          <p:cNvPr id="3" name="Picture 2" descr="07_rfm_customer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58368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6304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</a:defRPr>
            </a:pPr>
            <a:r>
              <a:t>RFM Segmentation Findings: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Champions &amp; Loyalists (38.2%): Generate over $6.3M in revenue. Require dedicated VIP loyalty perks.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At Risk High-Value (14.5%): 628 customers account for $1.45M but have been inactive for &gt;90 days.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Win-Back Revenue Potential: Triggering automated win-back drips can recover $150k - $250k in high-margin sales.</a:t>
            </a:r>
          </a:p>
          <a:p>
            <a:pPr>
              <a:spcAft>
                <a:spcPts val="1000"/>
              </a:spcAft>
              <a:defRPr sz="1100">
                <a:solidFill>
                  <a:srgbClr val="475569"/>
                </a:solidFill>
              </a:defRPr>
            </a:pPr>
            <a:r>
              <a:t>• Recent Shoppers (24.1%): Nurture first-time buyers with targeted 2nd purchase incentives within 30 days.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STRATEGIC ACTION PLAN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Question 4: Where Should the Business Focus to Grow Faster?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1. Q4 Supply Chain Readiness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Finalize supplier contracts and inventory buffers by late August to capture the massive November holiday spike without stockouts.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2. Pareto Inventory (80/20)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Implement Class-A inventory controls for the top 20% SKUs driving 80% revenue. Liquidate zero-velocity long-tail items.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6366F1"/>
                </a:solidFill>
              </a:defRPr>
            </a:pPr>
            <a:r>
              <a:t>3. Scale EU Wholesale Hubs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Launch localized B2B portals in Netherlands, Germany, and France to capitalize on high AOV ($3,000+) bulk purchases.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 r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4. Automated Win-Back Flows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Deploy automated 60/90-day re-engagement email workflows targeting the 628 high-value at-risk customers ($1.45M).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FUTURE INTERNS INTERNSHIP TASK 1 • PRODUCTION DELIVERABLE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Submission Ready &amp; Verified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• Final Analysis Report (PDF &amp; Markdown): Fully documented with exact validated KPIs.</a:t>
            </a:r>
            <a:br/>
            <a:r>
              <a:t>• Presentation Deck (PPTX): Executive slide package ready for stakeholder meetings.</a:t>
            </a:r>
            <a:br/>
            <a:r>
              <a:t>• Interactive Excel Workbook (XLSX): Cleaned data, pivot tables, and KPI sheets.</a:t>
            </a:r>
            <a:br/>
            <a:r>
              <a:t>• Reproducible Pipeline: Python, Pandas, Plotly, Streamlit &amp; Jupyter Notebook.</a:t>
            </a:r>
            <a:br/>
            <a:r>
              <a:t>• LinkedIn Showcase: Tagged @Future Interns with project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